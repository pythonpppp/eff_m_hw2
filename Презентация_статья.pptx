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C2749E-48A2-665C-C982-F66D42A86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16C187-CFB1-1DA0-6F57-124928283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75EF32-7246-F809-C660-D5E85F60A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15AAC-A9D6-4771-BFA6-7F4BC801931A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7A3622-CD77-8667-6E3B-F1DDC3C3A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BF8E5C-20AB-07DD-05B7-6EC89FB7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A0B61-E08F-4E13-9D3D-E7DB00502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33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1CE61-AED6-0917-E4FE-A3FF0E49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719774-EA73-21FD-0623-2CA44A502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00B9FD-E30D-20F4-6375-72CDAC729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15AAC-A9D6-4771-BFA6-7F4BC801931A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24B5E1-5D59-7EA4-6F3E-275AE6E3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7EDDB2-D576-3D05-FA1E-628FCF13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A0B61-E08F-4E13-9D3D-E7DB00502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42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763A3-682F-F86E-2913-008225E8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1EDEBA-5AF5-1182-98B2-B9C84AB03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3A9708-E69D-4A5B-26D4-3CB9C6F7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15AAC-A9D6-4771-BFA6-7F4BC801931A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1D2362-21DC-0014-3963-6DE5F9B9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284029-1682-52DF-84B5-E8E30371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A0B61-E08F-4E13-9D3D-E7DB00502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9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46F98-0749-F2FE-21F0-7890D57F7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BF7F3-6677-BFF6-302F-C8DD5D84D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9D968A-63C8-0B7B-16F5-3118D582B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450A63-4466-628C-2B54-25F49694D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15AAC-A9D6-4771-BFA6-7F4BC801931A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73F451-E3FF-D8FD-FCCC-9D528ED9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5B5CC7-8C46-3447-0CEF-0D4E30BA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A0B61-E08F-4E13-9D3D-E7DB00502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293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24C33-B31C-57A7-063F-C8B041BE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CB18B-98E9-4AA2-B17F-64402A22D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B6F384-F812-A76B-E90A-EE659F09B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7B9DDDD-3577-77C5-6E59-50186D202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8192DFC-B85E-F350-5EB4-32699B82E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4DCA18-C20C-834B-79AF-68FB79CE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15AAC-A9D6-4771-BFA6-7F4BC801931A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6E4FD7-194A-FDDC-CBBD-03D12129E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88E004C-1FCB-B0B0-799F-21D93D4C5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A0B61-E08F-4E13-9D3D-E7DB00502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451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237E7-41BD-CED3-577E-4AA77599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F9FE38B-37FE-5037-C91B-4F0CDC26D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15AAC-A9D6-4771-BFA6-7F4BC801931A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BFD008-7B1A-D156-90F3-C30D69E9F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15D697-2C23-4BEB-7B71-B866894C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A0B61-E08F-4E13-9D3D-E7DB00502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253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C111517-6F75-6104-A924-CC301650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15AAC-A9D6-4771-BFA6-7F4BC801931A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504DD3B-D4AC-C3B6-2210-B7B32068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03D192-5FFA-F67C-FA01-4ACB66137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A0B61-E08F-4E13-9D3D-E7DB00502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576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556BCE-5743-04EF-1D16-EDCAEE3DB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4D919A-4AF3-9A29-7FB9-51FD3F972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919719-8D44-CAA3-4524-65917EAF8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3F107B-343F-5011-3405-6AFAAEB3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15AAC-A9D6-4771-BFA6-7F4BC801931A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7B5ADA-7CDF-08D0-B783-346697BA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927F21-3B2F-BB70-C35B-80E246A9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A0B61-E08F-4E13-9D3D-E7DB00502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78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86EE4-8067-6FC6-31AE-B11429BD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67D391-5CDF-D528-6B98-5E34B7F6D1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278F70-6353-3725-3256-D844BEE99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5FA7C9-BEC8-2448-8203-08E58123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15AAC-A9D6-4771-BFA6-7F4BC801931A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62EEA9-3271-3AA9-4E22-8CE99989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2D142B-AC21-FEA4-1E5F-AD87E582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A0B61-E08F-4E13-9D3D-E7DB00502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82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BC7039-7AAF-2E3C-1D12-559D6B57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B5DBC3-ED1F-DE80-DCAF-69B77DACD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C9F719-FF36-C4C4-7ABA-90D8967D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15AAC-A9D6-4771-BFA6-7F4BC801931A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964CB2-AD6C-D8BC-1963-141555E8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A09313-998D-82C3-1AB6-88D2C4310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A0B61-E08F-4E13-9D3D-E7DB00502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62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E68B0DE-7359-B3D4-8366-10C230BD4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4BA341-F7C2-F7DB-A7B0-245FC2D3D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961836-0CE3-1D6E-BF50-4FEA2F510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15AAC-A9D6-4771-BFA6-7F4BC801931A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59832B-0682-DFA8-9550-2505289C0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CC396-1CB2-93E2-FF91-AD861F10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A0B61-E08F-4E13-9D3D-E7DB00502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69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D07E7-58EB-2207-A065-145DC864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1ECF7E-3D55-7226-E48C-5F1771D28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98C5F4-FD0A-4F63-065D-44D323597C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15AAC-A9D6-4771-BFA6-7F4BC801931A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231163-2ACC-A907-2765-8D3ED1214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3021C7-E8E6-3AF4-33D1-1F3438F48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8A0B61-E08F-4E13-9D3D-E7DB00502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29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0C9634-C208-0F66-3B20-FB23C2488D87}"/>
              </a:ext>
            </a:extLst>
          </p:cNvPr>
          <p:cNvSpPr txBox="1"/>
          <p:nvPr/>
        </p:nvSpPr>
        <p:spPr>
          <a:xfrm>
            <a:off x="566928" y="329184"/>
            <a:ext cx="11064240" cy="98341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Super-Convergence: Very Fast Training of Neural Networks Using Large Learning Rates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FEDCEE-C6D1-6A24-B3AA-BA42BBB4254B}"/>
              </a:ext>
            </a:extLst>
          </p:cNvPr>
          <p:cNvSpPr txBox="1"/>
          <p:nvPr/>
        </p:nvSpPr>
        <p:spPr>
          <a:xfrm>
            <a:off x="701040" y="2624755"/>
            <a:ext cx="1078992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4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быстрее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помощью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AAF9A-0F1B-906E-FD54-E7596C12F029}"/>
              </a:ext>
            </a:extLst>
          </p:cNvPr>
          <p:cNvSpPr txBox="1"/>
          <p:nvPr/>
        </p:nvSpPr>
        <p:spPr>
          <a:xfrm>
            <a:off x="701040" y="3972513"/>
            <a:ext cx="9966960" cy="7750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3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показывают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очень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rate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расписании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ускорить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ухудшить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1CAAA7-55A0-5322-16C7-B21F97C4521F}"/>
              </a:ext>
            </a:extLst>
          </p:cNvPr>
          <p:cNvSpPr txBox="1"/>
          <p:nvPr/>
        </p:nvSpPr>
        <p:spPr>
          <a:xfrm>
            <a:off x="11018520" y="6492240"/>
            <a:ext cx="594360" cy="1810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rPr dirty="0"/>
              <a:t>0</a:t>
            </a:r>
            <a:r>
              <a:rPr lang="ru-RU" dirty="0"/>
              <a:t>1</a:t>
            </a:r>
            <a:r>
              <a:rPr dirty="0"/>
              <a:t> / 20</a:t>
            </a:r>
          </a:p>
        </p:txBody>
      </p:sp>
    </p:spTree>
    <p:extLst>
      <p:ext uri="{BB962C8B-B14F-4D97-AF65-F5344CB8AC3E}">
        <p14:creationId xmlns:p14="http://schemas.microsoft.com/office/powerpoint/2010/main" val="2075529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статья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трёх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тезисах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2688" y="1773936"/>
            <a:ext cx="10241280" cy="29937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иногда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обучаться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быстрее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Super-Convergence: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достигается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намного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меньшее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итераций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Нужен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постоянный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LR, а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подходящее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расписание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циклическое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(CLR)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1cycle.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Изменять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недостаточно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действовать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регуляризация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нужно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заново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подбирать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 decay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50149-8128-2088-C236-DB563AF6393A}"/>
              </a:ext>
            </a:extLst>
          </p:cNvPr>
          <p:cNvSpPr txBox="1"/>
          <p:nvPr/>
        </p:nvSpPr>
        <p:spPr>
          <a:xfrm>
            <a:off x="11018520" y="6492240"/>
            <a:ext cx="594360" cy="1810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rPr dirty="0"/>
              <a:t>0</a:t>
            </a:r>
            <a:r>
              <a:rPr lang="ru-RU" dirty="0"/>
              <a:t>2</a:t>
            </a:r>
            <a:r>
              <a:rPr dirty="0"/>
              <a:t>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rate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влияет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rPr dirty="0"/>
              <a:t>03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9656"/>
            <a:ext cx="10332720" cy="3773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2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Обновление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спуске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468880"/>
            <a:ext cx="9601200" cy="5314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200" b="1">
                <a:solidFill>
                  <a:srgbClr val="12707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θᵢ₊₁ = θᵢ − η ∇L(θᵢ)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19272"/>
            <a:ext cx="10287000" cy="17400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η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rate,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шага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обновления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весов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Маленький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делает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шаги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осторожными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замедлять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хорошему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Слишком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обычно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считают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опасным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из-за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нестабильности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фиксированным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иногда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снижать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10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когда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перестаёт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иначе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ResNet-56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CIFAR-10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04 / 20</a:t>
            </a:r>
          </a:p>
        </p:txBody>
      </p:sp>
      <p:pic>
        <p:nvPicPr>
          <p:cNvPr id="7" name="Picture 6" descr="figure_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1099"/>
            <a:ext cx="6858000" cy="3643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673352"/>
            <a:ext cx="3767328" cy="32004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Синий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обычный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поэтапным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уменьшением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Оранжевый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CLR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Обычный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91,2%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80 000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итераций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Super-Convergence: 92,4%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10 000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итераций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Восемь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меньше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шагов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даже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9789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Cyclical Learning Rate?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05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673352"/>
            <a:ext cx="3767328" cy="367504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7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задаёт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шагов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пика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7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увеличивается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затем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уменьшается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подъём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спад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образуют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один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цикл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7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Figure 1b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расписание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LR, а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меняется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accuracy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разных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длинах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цикла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длинный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цикл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иногда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даёт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лучшее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" name="Рисунок 10" descr="Изображение выглядит как текст, линия, снимок экрана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C4B7C53-9DF7-306F-B1A8-F9F7BCE77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93" y="1673352"/>
            <a:ext cx="6268325" cy="3686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политикой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1cycle?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06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719072"/>
            <a:ext cx="10515600" cy="7108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1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Обычный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состоит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роста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последующего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Super-Convergence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предлагают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немного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изменить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схему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70632"/>
            <a:ext cx="9875520" cy="195021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Начать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небольшого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rate.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1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необычно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максимума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1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1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оставшейся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снизить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ещё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порядков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чтобы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веса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выбирают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подходящий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07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673352"/>
            <a:ext cx="3767328" cy="315285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1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Проводят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короткое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пробное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плавно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увеличивается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1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Обычно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растёт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максимума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затем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падает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слишком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шаги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начинают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мешать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1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приблизительно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верхнюю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границу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циклического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" name="Рисунок 10" descr="Изображение выглядит как текст, линия, диаграмма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E30D868-33BD-6032-8E49-995957495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904" y="1455224"/>
            <a:ext cx="5345811" cy="43772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пробовать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вплоть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3?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08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673352"/>
            <a:ext cx="3767328" cy="313637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ResNet-56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CIFAR-10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даже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около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оставалась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довольно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Обычный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Range Test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даёт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явный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которого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падает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Здесь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резкого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ухудшения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наблюдали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подтолкнуло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необычно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LR.</a:t>
            </a:r>
          </a:p>
        </p:txBody>
      </p:sp>
      <p:pic>
        <p:nvPicPr>
          <p:cNvPr id="11" name="Рисунок 10" descr="Изображение выглядит как текст, снимок экрана, График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E506A7F-1237-051B-A9A5-2FE42E832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64" y="1494560"/>
            <a:ext cx="5372989" cy="46512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помогать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обобщению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09 / 20</a:t>
            </a:r>
          </a:p>
        </p:txBody>
      </p:sp>
      <p:pic>
        <p:nvPicPr>
          <p:cNvPr id="7" name="Picture 6" descr="figur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64002"/>
            <a:ext cx="6812280" cy="14786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673352"/>
            <a:ext cx="3767328" cy="3344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трактуют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rate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ещё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один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Figure 8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training loss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ряде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случаев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растёт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test loss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снижается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означает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меньший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разрыв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между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поведением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считают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одним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хотя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ещё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строгое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доказательство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её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Нельзя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оставить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всё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остальное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10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82496"/>
            <a:ext cx="10515600" cy="7108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1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weight decay, dropout,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батча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07792"/>
            <a:ext cx="10241280" cy="20724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Когда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становится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очень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суммарная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регуляризация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оказаться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чрезмерной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Super-Convergence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нередко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уменьшали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её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прежде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 decay.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ImageNet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ResNet-50 и Inception-ResNet-v2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пришлось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снизить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 decay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порядки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1cycle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стало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96763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Зачем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маленький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снова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маленький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11 / 20</a:t>
            </a:r>
          </a:p>
        </p:txBody>
      </p:sp>
      <p:pic>
        <p:nvPicPr>
          <p:cNvPr id="7" name="Picture 6" descr="figur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26983"/>
            <a:ext cx="6858000" cy="32715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673352"/>
            <a:ext cx="3767328" cy="39681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1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оригинальном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Figure 7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геометрия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потерь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1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начале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маленький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помогает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нужное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1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середине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быстрее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двигаться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вдоль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пологой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1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конце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чтобы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смогла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аккуратно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уточнить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около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минимума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1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наглядное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объяснение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траектория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любой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12 / 20</a:t>
            </a:r>
          </a:p>
        </p:txBody>
      </p:sp>
      <p:pic>
        <p:nvPicPr>
          <p:cNvPr id="7" name="Picture 6" descr="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60599"/>
            <a:ext cx="6858000" cy="16043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673352"/>
            <a:ext cx="3767328" cy="39692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7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Идея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подходящий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шаг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кривизны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потерь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гессиана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слишком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дорого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7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приближение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Hessian-free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изменениям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весов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последовательных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итерациях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7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показывает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получаемые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оценки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могут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лежать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диапазоне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Полную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оставляют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будущее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Super-Convergence?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13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73352"/>
            <a:ext cx="5029200" cy="3773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200" b="1">
                <a:solidFill>
                  <a:srgbClr val="127070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992624" cy="182729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5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CIFAR-10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классов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5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CIFAR-100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классов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5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MNIST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рукописные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5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распознавания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73352"/>
            <a:ext cx="5029200" cy="3773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200" b="1">
                <a:solidFill>
                  <a:srgbClr val="127070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37376" y="2286000"/>
            <a:ext cx="4754880" cy="15032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5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ResNet-20, ResNet-56, ResNet-110.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5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широкие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остаточные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5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плотными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связями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5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ResNet-50, Inception-ResNet-v2.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" y="5042164"/>
            <a:ext cx="10332720" cy="31547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0">
                <a:solidFill>
                  <a:srgbClr val="5B656F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Смысл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этих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опытов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случайностью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разной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глубины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14 / 20</a:t>
            </a:r>
          </a:p>
        </p:txBody>
      </p:sp>
      <p:pic>
        <p:nvPicPr>
          <p:cNvPr id="7" name="Picture 6" descr="figure_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0156"/>
            <a:ext cx="6858000" cy="3505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673352"/>
            <a:ext cx="3767328" cy="29013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статье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сравнивают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расписание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и CLR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ResNet-20 и ResNet-110.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ResNet-20: 88,6% → 90,4% (+1,8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п.п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.).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ResNet-110: 91,0% → 92,1% (+1,1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п.п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.).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помогает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обоих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случаях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величина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выигрыша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Когда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выигрыш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ещё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заметнее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15 / 20</a:t>
            </a:r>
          </a:p>
        </p:txBody>
      </p:sp>
      <p:pic>
        <p:nvPicPr>
          <p:cNvPr id="7" name="Picture 6" descr="figure_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904"/>
            <a:ext cx="5641848" cy="3089583"/>
          </a:xfrm>
          <a:prstGeom prst="rect">
            <a:avLst/>
          </a:prstGeom>
        </p:spPr>
      </p:pic>
      <p:pic>
        <p:nvPicPr>
          <p:cNvPr id="8" name="Picture 7" descr="tab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70337"/>
            <a:ext cx="5056632" cy="15937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5010912"/>
            <a:ext cx="10698480" cy="57291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7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Когда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стало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меньше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выигрыш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вырос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 +2,0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п.п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40 000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+9,2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п.п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10 000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равном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шагов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CLR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10 000,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80 000.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батча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тоже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зависит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16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673352"/>
            <a:ext cx="3767328" cy="3655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6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ResNet-56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общего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batch size.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6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опытах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батчи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давали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высокую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Super-Convergence.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Также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сравнивали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generalization gap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разницу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между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6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статьи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проводили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суммарным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batch size 1000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восьми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GPU.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означает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батч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всегда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лучше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" name="Рисунок 10" descr="Изображение выглядит как линия, текст, диаграмма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B3689E3-30B2-51D1-AA70-077818829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5179"/>
            <a:ext cx="7426295" cy="19161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других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датасетах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17 / 20</a:t>
            </a:r>
          </a:p>
        </p:txBody>
      </p:sp>
      <p:pic>
        <p:nvPicPr>
          <p:cNvPr id="7" name="Picture 6" descr="tab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82" y="1527048"/>
            <a:ext cx="5653370" cy="45537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636776"/>
            <a:ext cx="4087368" cy="353673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оригинальная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перерисовки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ResNet-56.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MNIST /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99,03%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85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эпох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против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99,25%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CIFAR-100 / ResNet-56: 61,6%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эпох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против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66,4%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CIFAR-10 /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92,7%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эпох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против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92,8%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150.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двух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различались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48564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ImageNet?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18 / 20</a:t>
            </a:r>
          </a:p>
        </p:txBody>
      </p:sp>
      <p:pic>
        <p:nvPicPr>
          <p:cNvPr id="7" name="Picture 6" descr="figur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56337"/>
            <a:ext cx="6858000" cy="18128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673352"/>
            <a:ext cx="3767328" cy="34726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политикой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1cycle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ResNet-50 и Inception-ResNet-v2.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обучали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эпох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1cycle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эпох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ResNet-50: 63,7% → 67,6%.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Inception-ResNet-v2: 67,6% → 74,0%.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5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Чтобы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снижали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 decay.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относятся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96763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статье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доказано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остаётся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19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728216"/>
            <a:ext cx="5394960" cy="3773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200" b="1">
                <a:solidFill>
                  <a:srgbClr val="127070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показано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" y="2331720"/>
            <a:ext cx="5239512" cy="203812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нескольких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с CLR/1cycle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ускоряет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важно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балансировать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регуляризацию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обучающей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выборке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выигрыш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28216"/>
            <a:ext cx="5029200" cy="3773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200" b="1">
                <a:solidFill>
                  <a:srgbClr val="127070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3952" y="2331720"/>
            <a:ext cx="4800600" cy="235391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нельзя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гарантировать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любой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любого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Меньше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итераций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означает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ровно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столько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меньше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секунд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Объяснение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плоские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минимумы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оценку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кривизны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дальнейших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11064240" cy="5014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Итог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900" b="0">
                <a:solidFill>
                  <a:srgbClr val="5B656F"/>
                </a:solidFill>
                <a:latin typeface="Aptos"/>
              </a:defRPr>
            </a:pPr>
            <a:r>
              <a:t>20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682496"/>
            <a:ext cx="10424160" cy="7750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300" b="1">
                <a:solidFill>
                  <a:srgbClr val="1A212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Super-Convergence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необычно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rate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высокую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существенно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меньшее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итераций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44368"/>
            <a:ext cx="10204704" cy="105984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1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Чтобы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работало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предлагают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1cycle,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подбирать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диапазон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помощью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Range Test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уже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оказывает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сильный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регуляризующий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700016"/>
            <a:ext cx="10149840" cy="101111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000" b="0">
                <a:solidFill>
                  <a:srgbClr val="1A212B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проверен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статье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CIFAR-10/100, MNIST и ImageNet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несколькими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итог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гиперпараметров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1409</Words>
  <Application>Microsoft Office PowerPoint</Application>
  <PresentationFormat>Широкоэкранный</PresentationFormat>
  <Paragraphs>125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Vladislav Golovchenko</dc:creator>
  <cp:lastModifiedBy>Vladislav Golovchenko</cp:lastModifiedBy>
  <cp:revision>1</cp:revision>
  <dcterms:created xsi:type="dcterms:W3CDTF">2026-10-10T20:45:38Z</dcterms:created>
  <dcterms:modified xsi:type="dcterms:W3CDTF">2026-10-10T20:59:00Z</dcterms:modified>
</cp:coreProperties>
</file>